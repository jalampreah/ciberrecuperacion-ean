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A651"/>
              </a:gs>
              <a:gs pos="100000">
                <a:srgbClr val="003DA5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Sesión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Bóveda inmutable (WORM)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Object Lock, repositorios append-only y snapshots — la copia que el ransomware no puede destruir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Del backup que se puede borrar a la bóveda que resiste incluso al atacante con credenciales de administrador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Jawy Andrés Romero Pinto   ·  Módulo 92-EAN · Universidad Ean · Educación Continua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2 horas  ·  1h teoría + 1h laboratorio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Agenda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última línea de defensa: la copia que nadie puede tocar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81328"/>
            <a:ext cx="566928" cy="5669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S3→4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4447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De la Sesión 3 a la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Detectamos a la familia; hoy garantizamos desde dónde restaurar.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04288"/>
            <a:ext cx="566928" cy="566928"/>
          </a:xfrm>
          <a:prstGeom prst="ellipse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93%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6771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El backup es el 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7860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El ransomware moderno caza tus copias antes de cifrar.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27248"/>
            <a:ext cx="566928" cy="566928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3-2-1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906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La regla 3-2-1-1-0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0156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La evolución: una copia inmutable y cero errores de verificación.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50208"/>
            <a:ext cx="566928" cy="566928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WORM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136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WORM y Object 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245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Write Once, Read Many: de la cinta al candado por software.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773168"/>
            <a:ext cx="566928" cy="566928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A-O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736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Append-only y snapshots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047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restic/Borg que no dejan podar la historia; ZFS que rebobina.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596128"/>
            <a:ext cx="566928" cy="566928"/>
          </a:xfrm>
          <a:prstGeom prst="ellipse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5595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Laboratorio (2ª hora)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Montas la bóveda, la atacas y compruebas quién sobrevive.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La estrella polar (inmutabilidad)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pregunta del curso, cuando el atacante ya está dentro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737360"/>
            <a:ext cx="9601200" cy="14630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0" rIns="36576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1">
                <a:solidFill>
                  <a:srgbClr val="FFFFFF"/>
                </a:solidFill>
                <a:latin typeface="Calibri"/>
              </a:rPr>
              <a:t>«El atacante tiene credenciales de administrador y su siguiente objetivo son los backups: ¿cuál de tus copias seguirá existiendo mañana?»</a:t>
            </a:r>
          </a:p>
        </p:txBody>
      </p:sp>
      <p:sp>
        <p:nvSpPr>
          <p:cNvPr id="5" name="Oval 4"/>
          <p:cNvSpPr/>
          <p:nvPr/>
        </p:nvSpPr>
        <p:spPr>
          <a:xfrm>
            <a:off x="1600200" y="2148840"/>
            <a:ext cx="640080" cy="64008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8580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Inmutable por diseño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No es una política: es física del sistema. Ni root la salta.</a:t>
            </a:r>
          </a:p>
        </p:txBody>
      </p:sp>
      <p:sp>
        <p:nvSpPr>
          <p:cNvPr id="7" name="Oval 6"/>
          <p:cNvSpPr/>
          <p:nvPr/>
        </p:nvSpPr>
        <p:spPr>
          <a:xfrm>
            <a:off x="1618488" y="3794760"/>
            <a:ext cx="548640" cy="548640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2424" y="365760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8580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Retención que expira sola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El candado dura N días; nadie —ni tú— lo abre antes.</a:t>
            </a:r>
          </a:p>
        </p:txBody>
      </p:sp>
      <p:sp>
        <p:nvSpPr>
          <p:cNvPr id="9" name="Oval 8"/>
          <p:cNvSpPr/>
          <p:nvPr/>
        </p:nvSpPr>
        <p:spPr>
          <a:xfrm>
            <a:off x="4462272" y="3794760"/>
            <a:ext cx="548640" cy="548640"/>
          </a:xfrm>
          <a:prstGeom prst="ellipse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365760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8580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El servidor manda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Append-only: el cliente comprometido no borra historia.</a:t>
            </a:r>
          </a:p>
        </p:txBody>
      </p:sp>
      <p:sp>
        <p:nvSpPr>
          <p:cNvPr id="11" name="Oval 10"/>
          <p:cNvSpPr/>
          <p:nvPr/>
        </p:nvSpPr>
        <p:spPr>
          <a:xfrm>
            <a:off x="7306056" y="3794760"/>
            <a:ext cx="548640" cy="548640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9992" y="365760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68580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Confianza verificada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FIM (AIDE/Wazuh): sabes que nadie tocó la bóveda.</a:t>
            </a:r>
          </a:p>
        </p:txBody>
      </p:sp>
      <p:sp>
        <p:nvSpPr>
          <p:cNvPr id="13" name="Oval 12"/>
          <p:cNvSpPr/>
          <p:nvPr/>
        </p:nvSpPr>
        <p:spPr>
          <a:xfrm>
            <a:off x="10149840" y="3794760"/>
            <a:ext cx="548640" cy="548640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De la Sesión 3 a la Sesión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De cazar a la familia a garantizar la restauración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Sesión 3 · detección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Reglas YARA (archivos) y Sigma (logs)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La regla dispara: vssadmin delete shadows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Responde QUIÉN fue y dónde más está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Pero detectar no restaura nada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Sesión 4 · bóveda inmutable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Cuando la regla dispara, ya es tarde para copiar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La copia limpia debe EXISTIR de antemano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WORM + append-only + snapshots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Responde DESDE DÓNDE restauras con confianza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520440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El backup es el primer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ransomware moderno caza tus copias antes de cifrar producción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93 %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 los incidentes de ransomware intentan atacar los repositorios de backup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2424" y="19202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75 %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 las víctimas pierde al menos parte de sus repositorios de backup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9202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T1490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MITRE: inhibir la recuperación — shadows, catálogos y consolas de backup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79992" y="19202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copia inmutable verificada basta para no pagar el rescate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333333"/>
                </a:solidFill>
                <a:latin typeface="Calibri"/>
              </a:rPr>
              <a:t>La lección de la Sesión 3 se voltea: el mismo actor que tú detectas con Sigma está buscando tu consola de backup con las credenciales que robó.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Calibri"/>
              </a:rPr>
              <a:t>Fuente: Veeam Ransomware Trends Report 2023 (n=1 200 organizaciones; cifras redondeadas).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La regla 3-2-1-1-0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evolución del 3-2-1 para la era del ransomware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057400" cy="192024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copias de los datos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24328" y="2651760"/>
            <a:ext cx="219456" cy="256032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43784" y="1828800"/>
            <a:ext cx="2057400" cy="192024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medios distintos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19472" y="2651760"/>
            <a:ext cx="219456" cy="256032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38928" y="1828800"/>
            <a:ext cx="2057400" cy="192024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copia fuera de sitio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14616" y="2651760"/>
            <a:ext cx="219456" cy="256032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34072" y="1828800"/>
            <a:ext cx="2057400" cy="192024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copia INMUTABLE u offline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09760" y="2651760"/>
            <a:ext cx="219456" cy="256032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29216" y="1828800"/>
            <a:ext cx="2057400" cy="192024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errores al verificar la restauración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Los dos números nuevos son la respuesta al ransomware: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 «1» inmutable: aunque el atacante tenga TODAS las credenciales, esa copia no se puede cifrar ni borrar dentro de su retención.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 «0»: un backup sin prueba de restauración es una promesa — la Sesión 2 (scoring de integridad) es cómo llegas a cero errores.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La bóveda: la metáfora exacta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Lo que compras no es secreto — es imposibilidad de alterar</a:t>
            </a:r>
          </a:p>
        </p:txBody>
      </p:sp>
      <p:pic>
        <p:nvPicPr>
          <p:cNvPr id="4" name="Picture 3" descr="vault_do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3181463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Puerta de bóveda, Reserve Bank Museum (NZ) · Wikimedia Commons · CC BY-SA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920240"/>
            <a:ext cx="7132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Tres propiedades que el lab reproduce en software:</a:t>
            </a:r>
          </a:p>
          <a:p>
            <a:pPr algn="l" indent="-137160" marL="182880">
              <a:spcBef>
                <a:spcPts val="0"/>
              </a:spcBef>
              <a:spcAft>
                <a:spcPts val="10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La puerta se abre con llave — igual que tu bóveda acepta credenciales válidas para ESCRIBIR nuevos depósitos.</a:t>
            </a:r>
          </a:p>
          <a:p>
            <a:pPr algn="l" indent="-137160" marL="182880">
              <a:spcBef>
                <a:spcPts val="0"/>
              </a:spcBef>
              <a:spcAft>
                <a:spcPts val="10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Lo depositado no se puede alterar ni sacar antes de tiempo — retención WORM: ni el dueño de la llave lo destruye.</a:t>
            </a:r>
          </a:p>
          <a:p>
            <a:pPr algn="l" indent="-137160" marL="182880">
              <a:spcBef>
                <a:spcPts val="0"/>
              </a:spcBef>
              <a:spcAft>
                <a:spcPts val="1000"/>
              </a:spcAft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Hay cámaras y auditoría — FIM: cada intento de manipulación queda registrado y genera alerta.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400" b="1" i="1">
                <a:solidFill>
                  <a:srgbClr val="1E7C3C"/>
                </a:solidFill>
                <a:latin typeface="Calibri"/>
              </a:rPr>
              <a:t>Robar la llave ya no basta. Ese es exactamente el modelo de amenaza del ransomware moderno.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WORM: de la cinta al Object 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Write Once, Read Many — el concepto tiene 40 años; el candado ahora es software</a:t>
            </a:r>
          </a:p>
        </p:txBody>
      </p:sp>
      <p:pic>
        <p:nvPicPr>
          <p:cNvPr id="4" name="Picture 3" descr="tape_stor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37360"/>
            <a:ext cx="4663440" cy="3563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03720" y="5440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595959"/>
                </a:solidFill>
                <a:latin typeface="Calibri"/>
              </a:rPr>
              <a:t>Cartuchos de cinta (LTO, DDS, 8mm) · Wikimedia Commons · CC BY-SA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6035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Ayer: WORM físico</a:t>
            </a:r>
          </a:p>
          <a:p>
            <a:pPr algn="l" indent="-137160" marL="182880">
              <a:spcBef>
                <a:spcPts val="0"/>
              </a:spcBef>
              <a:spcAft>
                <a:spcPts val="12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Cintas LTO con pestaña WORM y discos ópticos: la imposibilidad de reescribir era del MEDIO. El air gap era literal: la cinta en un estante.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Hoy: WORM por software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S3 Object Lock (AWS, MinIO), Azure Immutable Blob: el candado vive en la API del almacenamiento de objetos.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Retention period por objeto + legal hold sin fecha.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Modo GOVERNANCE: un rol especial puede levantarlo (útil, pero es una llave más que robar).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Modo COMPLIANCE: NADIE lo levanta — ni root, ni el proveedor — hasta que expira. Es el modo del lab de hoy.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Anatomía de la bóveda (flujo)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camino del dato — y dónde rebota el atacante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2103120" cy="105156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PRODUCCIÓN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servidores y datos vivos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24912" y="2532888"/>
            <a:ext cx="457200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2148840"/>
            <a:ext cx="2103120" cy="105156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SERVIDOR DE BACKUP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restic / agente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422392" y="2532888"/>
            <a:ext cx="457200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214884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BÓVEDA WORM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Object Lock · retención 30 días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394192" y="2532888"/>
            <a:ext cx="457200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15400" y="214884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RESTAURACIÓN VALIDADA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scoring de integridad (S2) = 0 errores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206240"/>
            <a:ext cx="2103120" cy="96012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ATACANTE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credenciales robadas de admin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554480" y="3246120"/>
            <a:ext cx="1645920" cy="1371600"/>
          </a:xfrm>
          <a:prstGeom prst="line">
            <a:avLst/>
          </a:prstGeom>
          <a:ln w="27940">
            <a:solidFill>
              <a:srgbClr val="B0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9776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02A26"/>
                </a:solidFill>
                <a:latin typeface="Calibri"/>
              </a:rPr>
              <a:t>cifra y borra ✓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394960" y="3246120"/>
            <a:ext cx="1554480" cy="1371600"/>
          </a:xfrm>
          <a:prstGeom prst="line">
            <a:avLst/>
          </a:prstGeom>
          <a:ln w="27940">
            <a:solidFill>
              <a:srgbClr val="B0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60920" y="4160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02A26"/>
                </a:solidFill>
                <a:latin typeface="Calibri"/>
              </a:rPr>
              <a:t>DELETE / overwrite → DENEGADO ✗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1627632"/>
            <a:ext cx="502920" cy="502920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333333"/>
                </a:solidFill>
                <a:latin typeface="Calibri"/>
              </a:rPr>
              <a:t>La única flecha que la bóveda acepta es ESCRIBIR un objeto nuevo. Borrar, sobrescribir o acortar la retención rebotan — aunque las credenciales sean válidas. Eso convierte el backup de objetivo en testigo.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Object Lock en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Lo que vas a teclear en el lab — y su equivalente en la nube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760720" cy="4206240"/>
          </a:xfrm>
          <a:prstGeom prst="roundRect">
            <a:avLst>
              <a:gd name="adj" fmla="val 6000"/>
            </a:avLst>
          </a:prstGeom>
          <a:solidFill>
            <a:srgbClr val="0F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/>
          <a:lstStyle/>
          <a:p>
            <a:pPr algn="l"/>
            <a:r>
              <a:rPr sz="1250">
                <a:solidFill>
                  <a:srgbClr val="7C8F88"/>
                </a:solidFill>
                <a:latin typeface="Courier New"/>
              </a:rPr>
              <a:t># crear bucket con candado (MinIO, S3 API)</a:t>
            </a:r>
          </a:p>
          <a:p>
            <a:pPr algn="l"/>
            <a:r>
              <a:rPr sz="1250">
                <a:solidFill>
                  <a:srgbClr val="FFFFFF"/>
                </a:solidFill>
                <a:latin typeface="Courier New"/>
              </a:rPr>
              <a:t>mc mb --with-lock local/boveda</a:t>
            </a:r>
          </a:p>
          <a:p>
            <a:pPr algn="l"/>
            <a:r>
              <a:rPr sz="1250">
                <a:solidFill>
                  <a:srgbClr val="FFFFFF"/>
                </a:solidFill>
                <a:latin typeface="Courier New"/>
              </a:rPr>
              <a:t>mc retention set --default compliance 30d \</a:t>
            </a:r>
          </a:p>
          <a:p>
            <a:pPr algn="l"/>
            <a:r>
              <a:rPr sz="1250">
                <a:solidFill>
                  <a:srgbClr val="FFFFFF"/>
                </a:solidFill>
                <a:latin typeface="Courier New"/>
              </a:rPr>
              <a:t>      local/boveda</a:t>
            </a:r>
          </a:p>
          <a:p>
            <a:pPr algn="l"/>
            <a:r>
              <a:rPr sz="12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250">
                <a:solidFill>
                  <a:srgbClr val="7C8F88"/>
                </a:solidFill>
                <a:latin typeface="Courier New"/>
              </a:rPr>
              <a:t># subir el backup</a:t>
            </a:r>
          </a:p>
          <a:p>
            <a:pPr algn="l"/>
            <a:r>
              <a:rPr sz="1250">
                <a:solidFill>
                  <a:srgbClr val="FFFFFF"/>
                </a:solidFill>
                <a:latin typeface="Courier New"/>
              </a:rPr>
              <a:t>mc cp backup.tar.gz local/boveda/</a:t>
            </a:r>
          </a:p>
          <a:p>
            <a:pPr algn="l"/>
            <a:r>
              <a:rPr sz="125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250">
                <a:solidFill>
                  <a:srgbClr val="7C8F88"/>
                </a:solidFill>
                <a:latin typeface="Courier New"/>
              </a:rPr>
              <a:t># el 'ataque' (con credenciales validas)</a:t>
            </a:r>
          </a:p>
          <a:p>
            <a:pPr algn="l"/>
            <a:r>
              <a:rPr sz="1250">
                <a:solidFill>
                  <a:srgbClr val="FFFFFF"/>
                </a:solidFill>
                <a:latin typeface="Courier New"/>
              </a:rPr>
              <a:t>mc rm --recursive --force local/boveda/</a:t>
            </a:r>
          </a:p>
          <a:p>
            <a:pPr algn="l"/>
            <a:r>
              <a:rPr sz="1250">
                <a:solidFill>
                  <a:srgbClr val="E8A79E"/>
                </a:solidFill>
                <a:latin typeface="Courier New"/>
              </a:rPr>
              <a:t>  → ...Object is WORM protected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0840" y="17373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Reglas del juego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Object Lock exige VERSIONING: «borrar» solo añade un delete marker; la versión bloqueada sigue ahí.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La retención es POR OBJETO y por defecto del bucket; se puede ALARGAR, nunca acortar.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Mismo modelo gestionado: AWS S3 Object Lock, Azure Immutable Blob Storage, Backblaze B2.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MinIO te da la MISMA API en tu docker compose — por eso el lab es local y gratis.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250" b="0" i="1">
                <a:solidFill>
                  <a:srgbClr val="595959"/>
                </a:solidFill>
                <a:latin typeface="Calibri"/>
              </a:rPr>
              <a:t>Cuidado: Object Lock protege el objeto, no tu cuenta — borrar el BUCKET/tenant completo se mitiga con MFA-delete y separación de cuentas.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Append-only: el servidor decide, no el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Si el cliente de backup cae, su llave no puede reescribir la historia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Repositorio clásico (la llave hace todo)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mismo host que respalda puede borrar: restic forget --prune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Ransomware en ese host = adiós historial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Es el patrón por defecto de restic/Borg local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Cómodo… hasta el día del incidente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Append-only (rest-server / borg serve)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SERVIDOR publica el repo con --append-only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cliente puede backup y restore, nunca prune/forget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La poda la hace OTRO host de confianza, programada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Un cliente comprometido solo puede añadir — no destruir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520440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En el lab: rest-server en docker con --append-only; atacas desde el «cliente comprometido» y el prune rebota con 403.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Snapshots ZFS: rebobinar en segundos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Copy-on-write: la foto no cuesta nada — y se puede retener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zfs snapshot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foto instantánea del filesystem (copy-on-write, 0 copia)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78808" y="2468880"/>
            <a:ext cx="274320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62271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zfs hold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candado lógico: ni zfs destroy puede con un snapshot retenido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000999" y="2468880"/>
            <a:ext cx="274320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84462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zfs rollback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volver el filesystem COMPLETO al instante de la foto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F3864"/>
                </a:solidFill>
                <a:latin typeface="Calibri"/>
              </a:rPr>
              <a:t>Dónde brilla y dónde no: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Recuperación en minutos tras un cifrado local: rollback y a seguir — el RTO más corto de todo el arsenal.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Con «zfs allow» quitas el permiso de destroy a la cuenta de servicio: snapshots que el agente no puede borrar.</a:t>
            </a:r>
          </a:p>
          <a:p>
            <a:pPr algn="l" indent="-137160" marL="182880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PERO vive en el mismo host/pool: si el atacante gana root del sistema de archivos o el hardware muere, se va con todo. Complementa a la bóveda externa — no la sustituye.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250" b="0" i="1">
                <a:solidFill>
                  <a:srgbClr val="595959"/>
                </a:solidFill>
                <a:latin typeface="Calibri"/>
              </a:rPr>
              <a:t>En Ubuntu: zfsutils-linux sobre un archivo loopback — así lo demuestra el docente hoy (opcional en tu VM).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¿Quién vigila a la bóveda? — FIM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Integridad de archivos: la cámara de seguridad del backup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AIDE (el inventario notariado)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Base de datos de hashes de archivos críticos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aide --init una vez; aide --check programado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Reporta añadidos / cambiados / borrados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La base se guarda… en la bóveda (¡claro!)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Wazuh FIM (la alarma en tiempo real)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Agente que vigila directorios al instante (syscheck)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Alerta al SIEM cuando algo toca la config del backup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Escala a cientos de hosts con un solo manager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paso enterprise del mismo concepto de AIDE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520440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Conexión con la Sesión 2: FIM es tu scoring de integridad, pero corriendo en producción todos los días. En el lab usas AIDE sobre la carpeta de la bóveda.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Arquitectura del lab de hoy (flujo)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Todo en tu máquina: docker compose + restic + AIDE — atacante incluido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554480"/>
            <a:ext cx="5486400" cy="28346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24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508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Calibri"/>
              </a:rPr>
              <a:t>docker compose (módulo 04)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5740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MinIO :9000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bucket «boveda» · Object 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205740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rest-server :8000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repo restic · --append-only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4983480" cy="914400"/>
          </a:xfrm>
          <a:prstGeom prst="roundRect">
            <a:avLst>
              <a:gd name="adj" fmla="val 6000"/>
            </a:avLst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volúmenes ./data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aquí apunta AIDE (FIM) desde el host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TU TERMINAL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mc + restic (cliente backup)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atacar_boveda.sh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el «ransomware» con tus credenciales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2514600"/>
            <a:ext cx="3200400" cy="0"/>
          </a:xfrm>
          <a:prstGeom prst="line">
            <a:avLst/>
          </a:prstGeom>
          <a:ln w="27940">
            <a:solidFill>
              <a:srgbClr val="1780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77639" y="2194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7808A"/>
                </a:solidFill>
                <a:latin typeface="Calibri"/>
              </a:rPr>
              <a:t>backup (PUT) 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154680" y="2971800"/>
            <a:ext cx="3200400" cy="1051560"/>
          </a:xfrm>
          <a:prstGeom prst="line">
            <a:avLst/>
          </a:prstGeom>
          <a:ln w="27940">
            <a:solidFill>
              <a:srgbClr val="B02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9184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02A26"/>
                </a:solidFill>
                <a:latin typeface="Calibri"/>
              </a:rPr>
              <a:t>rm / prune → DENEGADO 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Parte 1 (30'): montar MinIO con Object Lock, subir el backup y fallar al destruirlo.  ·  Parte 2 (25'): repo restic append-only vs repo desprotegido — el mismo ataque, dos finales.  ·  Parte 3 (25'): AIDE detecta la manipulación y tú restauras desde la bóveda.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Laboratorio (2ª hora)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Montas la bóveda, la atacas con tus propias credenciales y compruebas quién sobrevive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La bóveda WORM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MinIO + Object Lock COMPLIANCE: bucket normal vs bóveda ante el mismo «ataque».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1 · 30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Append-only al ataque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restic + rest-server: el prune malicioso rebota; el repo desprotegido muere.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2 · 25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Vigilar y restaurar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AIDE detecta la manipulación; restauras desde la bóveda y verificas con hashes (S2).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3 · 25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Requisitos: VM Ubuntu (o Mac) con docker — setup.sh --with-docker del core. Todo el dataset es sintético; el «ransomware» es un script que usa tus credenciales válidas: si la bóveda resiste eso, resiste al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Puente a la Sesión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Ya tienes la copia intocable — falta saber QUÉ hacer a las 3 a. 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9601200" cy="155448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FFFFFF"/>
                </a:solidFill>
                <a:latin typeface="Calibri"/>
              </a:rPr>
              <a:t>La bóveda responde DESDE DÓNDE restaurar. El runbook responde CÓMO — y en plena crisis nadie recuerda el runbook. Sesión 5: un copiloto RAG local que responde con TUS procedimientos, sin sacar datos de la sala.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Hoy: la última línea de defensa técnica quedó en pie — y probada contra un atacante con credenciales.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681728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checklist 3-2-1-1-0 queda cubierto: la bóveda es el «1» inmutable, el scoring de S2 es el «0».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248656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Tarea antes de S5: trae (o inventa) el runbook de recuperación de tu organización — será el corpus del RAG.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08542"/>
                </a:solidFill>
                <a:latin typeface="Calibri"/>
              </a:rPr>
              <a:t>ean  ·  educación continua   |   Sesión 4 · Bóveda inmutable WORM (92-EAN)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